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0d80d0eeeac41ea" /><Relationship Type="http://schemas.openxmlformats.org/officeDocument/2006/relationships/extended-properties" Target="/docProps/app.xml" Id="R460d2e7a044b4f10" /><Relationship Type="http://schemas.openxmlformats.org/officeDocument/2006/relationships/officeDocument" Target="/ppt/presentation.xml" Id="Ra6288355d60445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39d75dc9544a5e"/>
  </p:sldMasterIdLst>
  <p:notesMasterIdLst>
    <p:notesMasterId xmlns:r="http://schemas.openxmlformats.org/officeDocument/2006/relationships" r:id="Ra8f02269f8a44f8d"/>
  </p:notesMasterIdLst>
  <p:sldIdLst>
    <p:sldId xmlns:r="http://schemas.openxmlformats.org/officeDocument/2006/relationships" id="256" r:id="Rc32626f8b1de4388"/>
    <p:sldId xmlns:r="http://schemas.openxmlformats.org/officeDocument/2006/relationships" id="257" r:id="Rfc961ba7f103427d"/>
    <p:sldId xmlns:r="http://schemas.openxmlformats.org/officeDocument/2006/relationships" id="258" r:id="Rf7439f7c01cb4585"/>
    <p:sldId xmlns:r="http://schemas.openxmlformats.org/officeDocument/2006/relationships" id="259" r:id="R05e5587bf9c148f1"/>
    <p:sldId xmlns:r="http://schemas.openxmlformats.org/officeDocument/2006/relationships" id="260" r:id="R59a5e70b72a14e37"/>
    <p:sldId xmlns:r="http://schemas.openxmlformats.org/officeDocument/2006/relationships" id="261" r:id="Rbe4841751daf4ae2"/>
    <p:sldId xmlns:r="http://schemas.openxmlformats.org/officeDocument/2006/relationships" id="262" r:id="Ra99bb8e718af4b6d"/>
    <p:sldId xmlns:r="http://schemas.openxmlformats.org/officeDocument/2006/relationships" id="263" r:id="R5ef3ced6c2e1444b"/>
    <p:sldId xmlns:r="http://schemas.openxmlformats.org/officeDocument/2006/relationships" id="264" r:id="Rb3ea8fa8955f4441"/>
    <p:sldId xmlns:r="http://schemas.openxmlformats.org/officeDocument/2006/relationships" id="265" r:id="R29e8155f90094a4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1b4e7591c4b4ca4" /><Relationship Type="http://schemas.openxmlformats.org/officeDocument/2006/relationships/slideMaster" Target="/ppt/slideMasters/slideMaster1.xml" Id="R8d39d75dc9544a5e" /><Relationship Type="http://schemas.openxmlformats.org/officeDocument/2006/relationships/notesMaster" Target="/ppt/notesMasters/notesMaster1.xml" Id="Ra8f02269f8a44f8d" /><Relationship Type="http://schemas.openxmlformats.org/officeDocument/2006/relationships/presProps" Target="/ppt/presProps.xml" Id="R316e277fce424626" /><Relationship Type="http://schemas.openxmlformats.org/officeDocument/2006/relationships/tableStyles" Target="/ppt/tableStyles.xml" Id="R5ec287f2d41d4661" /><Relationship Type="http://schemas.openxmlformats.org/officeDocument/2006/relationships/slide" Target="/ppt/slides/slide1.xml" Id="Rc32626f8b1de4388" /><Relationship Type="http://schemas.openxmlformats.org/officeDocument/2006/relationships/slide" Target="/ppt/slides/slide2.xml" Id="Rfc961ba7f103427d" /><Relationship Type="http://schemas.openxmlformats.org/officeDocument/2006/relationships/slide" Target="/ppt/slides/slide3.xml" Id="Rf7439f7c01cb4585" /><Relationship Type="http://schemas.openxmlformats.org/officeDocument/2006/relationships/slide" Target="/ppt/slides/slide4.xml" Id="R05e5587bf9c148f1" /><Relationship Type="http://schemas.openxmlformats.org/officeDocument/2006/relationships/slide" Target="/ppt/slides/slide5.xml" Id="R59a5e70b72a14e37" /><Relationship Type="http://schemas.openxmlformats.org/officeDocument/2006/relationships/slide" Target="/ppt/slides/slide6.xml" Id="Rbe4841751daf4ae2" /><Relationship Type="http://schemas.openxmlformats.org/officeDocument/2006/relationships/slide" Target="/ppt/slides/slide7.xml" Id="Ra99bb8e718af4b6d" /><Relationship Type="http://schemas.openxmlformats.org/officeDocument/2006/relationships/slide" Target="/ppt/slides/slide8.xml" Id="R5ef3ced6c2e1444b" /><Relationship Type="http://schemas.openxmlformats.org/officeDocument/2006/relationships/slide" Target="/ppt/slides/slide9.xml" Id="Rb3ea8fa8955f4441" /><Relationship Type="http://schemas.openxmlformats.org/officeDocument/2006/relationships/slide" Target="/ppt/slides/slide10.xml" Id="R29e8155f90094a4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f9a62b62c8048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f400d7d31ec4663" /><Relationship Type="http://schemas.openxmlformats.org/officeDocument/2006/relationships/notesMaster" Target="/ppt/notesMasters/notesMaster1.xml" Id="Rb7041356b41a4c6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4f3cbb0ef0248ca" /><Relationship Type="http://schemas.openxmlformats.org/officeDocument/2006/relationships/notesMaster" Target="/ppt/notesMasters/notesMaster1.xml" Id="R98594334f88f482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0cd941b9c874554" /><Relationship Type="http://schemas.openxmlformats.org/officeDocument/2006/relationships/notesMaster" Target="/ppt/notesMasters/notesMaster1.xml" Id="R88d026a28b78490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22038e1b5b14e81" /><Relationship Type="http://schemas.openxmlformats.org/officeDocument/2006/relationships/notesMaster" Target="/ppt/notesMasters/notesMaster1.xml" Id="R553b116ecf32428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77b18e50c724cc2" /><Relationship Type="http://schemas.openxmlformats.org/officeDocument/2006/relationships/notesMaster" Target="/ppt/notesMasters/notesMaster1.xml" Id="Rf2b79978ae62482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14fca4a6496412b" /><Relationship Type="http://schemas.openxmlformats.org/officeDocument/2006/relationships/notesMaster" Target="/ppt/notesMasters/notesMaster1.xml" Id="R85bb4c8b8f48492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fc88490930049ae" /><Relationship Type="http://schemas.openxmlformats.org/officeDocument/2006/relationships/notesMaster" Target="/ppt/notesMasters/notesMaster1.xml" Id="R437dcda71ba0488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1d961361b13413d" /><Relationship Type="http://schemas.openxmlformats.org/officeDocument/2006/relationships/notesMaster" Target="/ppt/notesMasters/notesMaster1.xml" Id="R592d9d7a672a470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f1924c33d3240d4" /><Relationship Type="http://schemas.openxmlformats.org/officeDocument/2006/relationships/notesMaster" Target="/ppt/notesMasters/notesMaster1.xml" Id="R00a5da520a9846b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0ed76cbf023477e" /><Relationship Type="http://schemas.openxmlformats.org/officeDocument/2006/relationships/notesMaster" Target="/ppt/notesMasters/notesMaster1.xml" Id="Raae24d3132a846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این ارائه، طرح مفهومی است. همهٔ ویژگی‌های آتی فرضیه و پیشنهاد طراحی هستند و ادعای محصول فعال نیستند.</a:t>
            </a:r>
          </a:p>
          <a:p xmlns:a="http://schemas.openxmlformats.org/drawingml/2006/main">
            <a:r>
              <a:t>تصویر: Pexels، عکس 106399، https://www.pexels.com/photo/white-concrete-house-106399/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این ارائه، طرح مفهومی است. همهٔ ویژگی‌های آتی فرضیه و پیشنهاد طراحی هستند و ادعای محصول فعال نیستند.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این ارائه، طرح مفهومی است. همهٔ ویژگی‌های آتی فرضیه و پیشنهاد طراحی هستند و ادعای محصول فعال نیستند.</a:t>
            </a:r>
          </a:p>
          <a:p xmlns:a="http://schemas.openxmlformats.org/drawingml/2006/main">
            <a:r>
              <a:t>این اسلاید مقایسهٔ مفهومی تجربهٔ کاربری است، نه ادعای فقدان قابلیت‌های مشابه در تمام رقبا.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این ارائه، طرح مفهومی است. همهٔ ویژگی‌های آتی فرضیه و پیشنهاد طراحی هستند و ادعای محصول فعال نیستند.</a:t>
            </a:r>
          </a:p>
          <a:p xmlns:a="http://schemas.openxmlformats.org/drawingml/2006/main">
            <a:r>
              <a:t>تصویر نمونه: Pexels، عکس 1643383، https://www.pexels.com/photo/brown-wooden-table-and-chairs-1643383/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این ارائه، طرح مفهومی است. همهٔ ویژگی‌های آتی فرضیه و پیشنهاد طراحی هستند و ادعای محصول فعال نیستند.</a:t>
            </a:r>
          </a:p>
          <a:p xmlns:a="http://schemas.openxmlformats.org/drawingml/2006/main">
            <a:r>
              <a:t>تصویر نمونه: Pexels، عکس 1396122، https://www.pexels.com/photo/modern-white-house-1396122/</a:t>
            </a:r>
          </a:p>
          <a:p xmlns:a="http://schemas.openxmlformats.org/drawingml/2006/main">
            <a:r>
              <a:t>تاریخچهٔ قیمت منظور قیمت‌های اعلام‌شده در آگهی است، نه قیمت قطعی معامله.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این ارائه، طرح مفهومی است. همهٔ ویژگی‌های آتی فرضیه و پیشنهاد طراحی هستند و ادعای محصول فعال نیستند.</a:t>
            </a:r>
          </a:p>
          <a:p xmlns:a="http://schemas.openxmlformats.org/drawingml/2006/main">
            <a:r>
              <a:t>تصویر نمونه: Pexels، عکس 276724، https://www.pexels.com/photo/brown-wooden-center-table-276724/</a:t>
            </a:r>
          </a:p>
          <a:p xmlns:a="http://schemas.openxmlformats.org/drawingml/2006/main">
            <a:r>
              <a:t>حدس قیمت و اقساط صرفاً بازی یا شبیه‌سازی‌اند؛ پیشنهاد حقوقی خرید یا تعهد مالی محسوب نمی‌شوند.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این ارائه، طرح مفهومی است. همهٔ ویژگی‌های آتی فرضیه و پیشنهاد طراحی هستند و ادعای محصول فعال نیستند.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این ارائه، طرح مفهومی است. همهٔ ویژگی‌های آتی فرضیه و پیشنهاد طراحی هستند و ادعای محصول فعال نیستند.</a:t>
            </a:r>
          </a:p>
          <a:p xmlns:a="http://schemas.openxmlformats.org/drawingml/2006/main">
            <a:r>
              <a:t>شروع با مجموعه‌ای منتخب مستلزم اجازهٔ انتشار تصاویر و اطلاعات لازم از صاحب محتواست.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این ارائه، طرح مفهومی است. همهٔ ویژگی‌های آتی فرضیه و پیشنهاد طراحی هستند و ادعای محصول فعال نیستند.</a:t>
            </a:r>
          </a:p>
          <a:p xmlns:a="http://schemas.openxmlformats.org/drawingml/2006/main">
            <a:r>
              <a:t>مرحله‌بندی پیشنهادی است. ورود به فاز بعد به عملکرد واقعی فاز قبل وابسته خواهد بود.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این ارائه، طرح مفهومی است. همهٔ ویژگی‌های آتی فرضیه و پیشنهاد طراحی هستند و ادعای محصول فعال نیستند.</a:t>
            </a:r>
          </a:p>
          <a:p xmlns:a="http://schemas.openxmlformats.org/drawingml/2006/main">
            <a:r>
              <a:t>معیارها پیشنهادی هستند و هنوز نتیجهٔ آزمایش واقعی وجود ندارد.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6e473684774a7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7d4d3a3b814d0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90c8bf684545b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a8ddc08253415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5ad1bcc1b0427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25a69c9d6d4dd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2A34D3F-139F-4BAE-B11A-3EF34BFAE7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C27C150-9A7D-45E5-B381-6F8B355983F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179D52C-6829-4BCA-9A91-F1CF7E40BF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F54F20F-170E-470A-BEE0-87E81CD11B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37E0FF5-135C-4053-AED8-F83AE76FFB6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09B392E-549A-4DBF-9039-CCEEEDD47F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2FE3D54-60A4-4D15-922B-FD2F4837700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874F400-902C-4C26-A243-66B31D503EE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710D583-0AA3-412D-9F7C-775C3F8F8A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AAD4776-2267-475F-B572-9B3668027EB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34ae77ce2fb4a5b" /><Relationship Type="http://schemas.openxmlformats.org/officeDocument/2006/relationships/slideLayout" Target="/ppt/slideLayouts/slideLayout1.xml" Id="R450a01c8e45a451f" /><Relationship Type="http://schemas.openxmlformats.org/officeDocument/2006/relationships/slideLayout" Target="/ppt/slideLayouts/slideLayout2.xml" Id="R07c18d32aa68418d" /><Relationship Type="http://schemas.openxmlformats.org/officeDocument/2006/relationships/slideLayout" Target="/ppt/slideLayouts/slideLayout3.xml" Id="Rc60b92fa5029434c" /><Relationship Type="http://schemas.openxmlformats.org/officeDocument/2006/relationships/slideLayout" Target="/ppt/slideLayouts/slideLayout4.xml" Id="R8ceb1edb8b2c4e0f" /><Relationship Type="http://schemas.openxmlformats.org/officeDocument/2006/relationships/slideLayout" Target="/ppt/slideLayouts/slideLayout5.xml" Id="Rf09d7a9127644d26" /><Relationship Type="http://schemas.openxmlformats.org/officeDocument/2006/relationships/slideLayout" Target="/ppt/slideLayouts/slideLayout6.xml" Id="Rc2dad639acc142e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0a01c8e45a451f"/>
    <p:sldLayoutId xmlns:r="http://schemas.openxmlformats.org/officeDocument/2006/relationships" id="2147483650" r:id="R07c18d32aa68418d"/>
    <p:sldLayoutId xmlns:r="http://schemas.openxmlformats.org/officeDocument/2006/relationships" id="2147483651" r:id="Rc60b92fa5029434c"/>
    <p:sldLayoutId xmlns:r="http://schemas.openxmlformats.org/officeDocument/2006/relationships" id="2147483652" r:id="R8ceb1edb8b2c4e0f"/>
    <p:sldLayoutId xmlns:r="http://schemas.openxmlformats.org/officeDocument/2006/relationships" id="2147483653" r:id="Rf09d7a9127644d26"/>
    <p:sldLayoutId xmlns:r="http://schemas.openxmlformats.org/officeDocument/2006/relationships" id="2147483654" r:id="Rc2dad639acc142e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1d63d8c33b4657" /><Relationship Type="http://schemas.openxmlformats.org/officeDocument/2006/relationships/image" Target="/ppt/media/image.jpeg" Id="Ra85c74bc2da54251" /><Relationship Type="http://schemas.openxmlformats.org/officeDocument/2006/relationships/notesSlide" Target="/ppt/notesSlides/notesSlide1.xml" Id="R899a5fd3277a466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b7104552d7443e" /><Relationship Type="http://schemas.openxmlformats.org/officeDocument/2006/relationships/notesSlide" Target="/ppt/notesSlides/notesSlide2.xml" Id="R28438c2b4367400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19ccf28c6c473e" /><Relationship Type="http://schemas.openxmlformats.org/officeDocument/2006/relationships/notesSlide" Target="/ppt/notesSlides/notesSlide3.xml" Id="Rcaf4a73fa06045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8961f743d342c4" /><Relationship Type="http://schemas.openxmlformats.org/officeDocument/2006/relationships/image" Target="/ppt/media/image2.jpeg" Id="Rc3f073b9444a4c11" /><Relationship Type="http://schemas.openxmlformats.org/officeDocument/2006/relationships/notesSlide" Target="/ppt/notesSlides/notesSlide4.xml" Id="R1921871270104f9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7fcf66fd004b5c" /><Relationship Type="http://schemas.openxmlformats.org/officeDocument/2006/relationships/image" Target="/ppt/media/image3.jpeg" Id="R91948ef3053f4718" /><Relationship Type="http://schemas.openxmlformats.org/officeDocument/2006/relationships/notesSlide" Target="/ppt/notesSlides/notesSlide5.xml" Id="R731e51b478ec484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817e77e71644cd" /><Relationship Type="http://schemas.openxmlformats.org/officeDocument/2006/relationships/image" Target="/ppt/media/image4.jpeg" Id="R774f9b46d4494a25" /><Relationship Type="http://schemas.openxmlformats.org/officeDocument/2006/relationships/notesSlide" Target="/ppt/notesSlides/notesSlide6.xml" Id="R5aede9bd60254d7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eb8982ee024824" /><Relationship Type="http://schemas.openxmlformats.org/officeDocument/2006/relationships/notesSlide" Target="/ppt/notesSlides/notesSlide7.xml" Id="Ra597ef309bee4e9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647afeff3d4bdc" /><Relationship Type="http://schemas.openxmlformats.org/officeDocument/2006/relationships/notesSlide" Target="/ppt/notesSlides/notesSlide8.xml" Id="R6edba41b8a5146f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d2f76edde14868" /><Relationship Type="http://schemas.openxmlformats.org/officeDocument/2006/relationships/notesSlide" Target="/ppt/notesSlides/notesSlide9.xml" Id="R26689ae63d434e5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9c0b2fec6a4442" /><Relationship Type="http://schemas.openxmlformats.org/officeDocument/2006/relationships/notesSlide" Target="/ppt/notesSlides/notesSlide10.xml" Id="R7a8368364b70488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A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EC9BEDB9-731E-485A-A025-EC9349BED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5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rPr>
              <a:t>طرح مفهومی محصول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A524D02-2DF7-4F93-9B07-90A6CB332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00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defPPr>
            <a:lvl1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1pPr>
            <a:lvl2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2pPr>
            <a:lvl3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3pPr>
            <a:lvl4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4pPr>
            <a:lvl5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5pPr>
            <a:lvl6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6pPr>
            <a:lvl7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7pPr>
            <a:lvl8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8pPr>
            <a:lvl9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6E2465-B0C6-436C-B383-1948211FA6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5c74bc2da54251"/>
          <a:srcRect xmlns:a="http://schemas.openxmlformats.org/drawingml/2006/main" l="24074" t="0" r="2407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5334000" cy="6858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C9E337-0F23-4CDA-A122-695A1BE9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6858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125FF58A-F103-48F8-AD59-9F169B851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85900"/>
            <a:ext cx="5048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585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585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585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585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585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585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585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585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585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585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585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pPr>
            <a:r>
              <a:rPr sz="5850" b="1">
                <a:solidFill>
                  <a:srgbClr val="F4F0E8"/>
                </a:solidFill>
                <a:latin typeface="DejaVu Sans"/>
                <a:ea typeface="DejaVu Sans"/>
                <a:cs typeface="DejaVu Sans"/>
              </a:rPr>
              <a:t>دیجی‌کالای</a:t>
            </a:r>
          </a:p>
          <a:p xmlns:a="http://schemas.openxmlformats.org/drawingml/2006/main">
            <a:pPr algn="r">
              <a:defRPr sz="585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pPr>
            <a:r>
              <a:rPr sz="5850" b="1">
                <a:solidFill>
                  <a:srgbClr val="F4F0E8"/>
                </a:solidFill>
                <a:latin typeface="DejaVu Sans"/>
                <a:ea typeface="DejaVu Sans"/>
                <a:cs typeface="DejaVu Sans"/>
              </a:rPr>
              <a:t>ملک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C52623F4-D07A-4402-AAD7-FE9508E5A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76650"/>
            <a:ext cx="4857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2325" b="0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2325" b="0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2325" b="0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2325" b="0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2325" b="0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2325" b="0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2325" b="0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2325" b="0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2325" b="0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2325" b="0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2325" b="0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BECF8B"/>
                </a:solidFill>
                <a:latin typeface="DejaVu Sans"/>
                <a:ea typeface="DejaVu Sans"/>
                <a:cs typeface="DejaVu Sans"/>
              </a:rPr>
              <a:t>جایی برای دیدن، شناختن و دنبال‌کردن خانه‌ها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FBF5F10D-307F-4485-A7FE-C2F1C9F6D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7210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50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150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150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150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150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150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150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150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150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150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B8BBB3"/>
                </a:solidFill>
                <a:latin typeface="DejaVu Sans"/>
                <a:ea typeface="DejaVu Sans"/>
                <a:cs typeface="DejaVu Sans"/>
              </a:rPr>
              <a:t>از علاقه به خانه تا انتخاب و معامله، به‌مرور زمان</a:t>
            </a:r>
          </a:p>
        </p:txBody>
      </p:sp>
    </p:spTree>
    <p:extLst>
      <p:ext uri="{BB962C8B-B14F-4D97-AF65-F5344CB8AC3E}">
        <p14:creationId xmlns:p14="http://schemas.microsoft.com/office/powerpoint/2010/main" val="2767933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962E885D-F525-460E-A3FE-6DCABEAC1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5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rPr>
              <a:t>فرضیهٔ شروع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03AA069-D759-4B63-9284-3A79D8BE5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00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defPPr>
            <a:lvl1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1pPr>
            <a:lvl2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2pPr>
            <a:lvl3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3pPr>
            <a:lvl4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4pPr>
            <a:lvl5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5pPr>
            <a:lvl6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6pPr>
            <a:lvl7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7pPr>
            <a:lvl8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8pPr>
            <a:lvl9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B92B0558-F8AD-4407-A227-0264847EB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71625"/>
            <a:ext cx="100965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390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390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390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390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390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390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390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390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390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390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390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pPr>
            <a:r>
              <a:rPr sz="3900" b="1">
                <a:solidFill>
                  <a:srgbClr val="101A1B"/>
                </a:solidFill>
                <a:latin typeface="DejaVu Sans"/>
                <a:ea typeface="DejaVu Sans"/>
                <a:cs typeface="DejaVu Sans"/>
              </a:rPr>
              <a:t>آدم‌ها خانه‌ها را حتی وقتی قصد خرید ندارند، تماشا می‌کنند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52FFB1-4F67-450F-B806-63F2E734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457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B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AC9805A6-6ADE-46DD-B292-B5E52FE9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191000"/>
            <a:ext cx="9620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2175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2175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2175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2175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2175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2175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2175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2175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2175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2175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2175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24312F"/>
                </a:solidFill>
                <a:latin typeface="DejaVu Sans"/>
                <a:ea typeface="DejaVu Sans"/>
                <a:cs typeface="DejaVu Sans"/>
              </a:rPr>
              <a:t>کنجکاوی دربارهٔ خانه، سبک زندگی و قیمت می‌تواند به عادتی برای بازگشت تبدیل شود.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6A4074FA-ECD0-4B41-A6A6-15CACBA1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848350"/>
            <a:ext cx="9620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200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1200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1200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1200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1200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1200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1200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1200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1200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1200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77817A"/>
                </a:solidFill>
                <a:latin typeface="DejaVu Sans"/>
                <a:ea typeface="DejaVu Sans"/>
                <a:cs typeface="DejaVu Sans"/>
              </a:rPr>
              <a:t>این یک فرضیهٔ قابل‌آزمایش است، نه واقعیت اثبات‌شدهٔ بازار.</a:t>
            </a:r>
          </a:p>
        </p:txBody>
      </p:sp>
    </p:spTree>
    <p:extLst>
      <p:ext uri="{BB962C8B-B14F-4D97-AF65-F5344CB8AC3E}">
        <p14:creationId xmlns:p14="http://schemas.microsoft.com/office/powerpoint/2010/main" val="1628395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1A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D71DB388-CB09-45DC-817E-DF0E7DAA0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5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rPr>
              <a:t>تفاوت تجربه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5261D8F-153A-40E5-8114-848FCE548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00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defPPr>
            <a:lvl1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1pPr>
            <a:lvl2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2pPr>
            <a:lvl3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3pPr>
            <a:lvl4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4pPr>
            <a:lvl5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5pPr>
            <a:lvl6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6pPr>
            <a:lvl7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7pPr>
            <a:lvl8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8pPr>
            <a:lvl9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A71EAF62-1871-42EC-980F-915F11CEF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257300"/>
            <a:ext cx="95250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36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36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36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36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36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36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36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36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36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36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36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F4F0E8"/>
                </a:solidFill>
                <a:latin typeface="DejaVu Sans"/>
                <a:ea typeface="DejaVu Sans"/>
                <a:cs typeface="DejaVu Sans"/>
              </a:rPr>
              <a:t>آگهی عمر کوتاهی دارد؛</a:t>
            </a:r>
          </a:p>
          <a:p xmlns:a="http://schemas.openxmlformats.org/drawingml/2006/main">
            <a:pPr algn="r">
              <a:defRPr sz="36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F4F0E8"/>
                </a:solidFill>
                <a:latin typeface="DejaVu Sans"/>
                <a:ea typeface="DejaVu Sans"/>
                <a:cs typeface="DejaVu Sans"/>
              </a:rPr>
              <a:t>خانه می‌تواند موضوعی ماندگار باشد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439524A9-CD63-44F8-A25B-58601D994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381375"/>
            <a:ext cx="9239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20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20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20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20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20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20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20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20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20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20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20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B8BBB3"/>
                </a:solidFill>
                <a:latin typeface="DejaVu Sans"/>
                <a:ea typeface="DejaVu Sans"/>
                <a:cs typeface="DejaVu Sans"/>
              </a:rPr>
              <a:t>در پلتفرم‌های آگهی، مسیر معمول با جست‌وجو و تماس شروع می‌شود.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E4309A5E-67AA-4D57-8E1F-4C622C3A7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391025"/>
            <a:ext cx="9239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225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225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225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225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225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225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225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225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225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225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225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BECF8B"/>
                </a:solidFill>
                <a:latin typeface="DejaVu Sans"/>
                <a:ea typeface="DejaVu Sans"/>
                <a:cs typeface="DejaVu Sans"/>
              </a:rPr>
              <a:t>در این ایده، مسیر با تماشا، مقایسه و شکل‌گیری سلیقه آغاز می‌شود.</a:t>
            </a:r>
          </a:p>
        </p:txBody>
      </p:sp>
    </p:spTree>
    <p:extLst>
      <p:ext uri="{BB962C8B-B14F-4D97-AF65-F5344CB8AC3E}">
        <p14:creationId xmlns:p14="http://schemas.microsoft.com/office/powerpoint/2010/main" val="2644011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1A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1ABACB92-B2C6-4112-B9A0-EFDAFA25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5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rPr>
              <a:t>روز اول محصول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59A9346-7F7F-486C-9901-5A9692FA0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00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defPPr>
            <a:lvl1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1pPr>
            <a:lvl2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2pPr>
            <a:lvl3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3pPr>
            <a:lvl4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4pPr>
            <a:lvl5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5pPr>
            <a:lvl6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6pPr>
            <a:lvl7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7pPr>
            <a:lvl8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8pPr>
            <a:lvl9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BD7DF8-2A39-4C19-999D-FB5FD3A056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f073b9444a4c11"/>
          <a:srcRect xmlns:a="http://schemas.openxmlformats.org/drawingml/2006/main" l="14308" t="0" r="1430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333500"/>
            <a:ext cx="5267325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9F53B2E8-9989-433A-8D60-28EBD176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362075"/>
            <a:ext cx="50958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3225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3225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3225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3225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3225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3225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3225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3225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3225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3225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3225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4F0E8"/>
                </a:solidFill>
                <a:latin typeface="DejaVu Sans"/>
                <a:ea typeface="DejaVu Sans"/>
                <a:cs typeface="DejaVu Sans"/>
              </a:rPr>
              <a:t>شروع با چند خانهٔ دیدنی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023A1ACE-EEB7-4B1D-9DA6-0EA738A11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600325"/>
            <a:ext cx="5000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2325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2325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2325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2325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2325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2325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2325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2325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2325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2325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2325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pPr>
            <a:r>
              <a:rPr sz="2325" b="1">
                <a:solidFill>
                  <a:srgbClr val="BECF8B"/>
                </a:solidFill>
                <a:latin typeface="DejaVu Sans"/>
                <a:ea typeface="DejaVu Sans"/>
                <a:cs typeface="DejaVu Sans"/>
              </a:rPr>
              <a:t>خانهٔ امروز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8C48D046-B261-4700-8F02-555043F43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43275"/>
            <a:ext cx="5000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23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23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23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23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23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23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23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23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23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23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23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F4F0E8"/>
                </a:solidFill>
                <a:latin typeface="DejaVu Sans"/>
                <a:ea typeface="DejaVu Sans"/>
                <a:cs typeface="DejaVu Sans"/>
              </a:rPr>
              <a:t>دو خانه، یک بودجه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E03EA1F1-BFD0-4DB2-81D9-F3DBD6183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086225"/>
            <a:ext cx="5000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23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23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23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23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23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23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23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23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23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23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23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F4F0E8"/>
                </a:solidFill>
                <a:latin typeface="DejaVu Sans"/>
                <a:ea typeface="DejaVu Sans"/>
                <a:cs typeface="DejaVu Sans"/>
              </a:rPr>
              <a:t>حدس قیمت یک ملک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EBC7939D-00D5-4758-80BB-D1B422C18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829175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217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217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217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217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217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217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217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217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217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217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217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4F0E8"/>
                </a:solidFill>
                <a:latin typeface="DejaVu Sans"/>
                <a:ea typeface="DejaVu Sans"/>
                <a:cs typeface="DejaVu Sans"/>
              </a:rPr>
              <a:t>معرفی یک خانهٔ کوچکِ خوش‌نقشه</a:t>
            </a:r>
          </a:p>
        </p:txBody>
      </p:sp>
    </p:spTree>
    <p:extLst>
      <p:ext uri="{BB962C8B-B14F-4D97-AF65-F5344CB8AC3E}">
        <p14:creationId xmlns:p14="http://schemas.microsoft.com/office/powerpoint/2010/main" val="86315658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031AE89B-7919-483D-B006-0B08BE79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5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rPr>
              <a:t>هویت مستقل هر خانه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4630A07-6370-4019-9B67-8F1A63A49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00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defPPr>
            <a:lvl1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1pPr>
            <a:lvl2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2pPr>
            <a:lvl3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3pPr>
            <a:lvl4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4pPr>
            <a:lvl5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5pPr>
            <a:lvl6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6pPr>
            <a:lvl7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7pPr>
            <a:lvl8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8pPr>
            <a:lvl9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DEDCA63C-1BFD-42AA-A6AD-5FDD44443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066800"/>
            <a:ext cx="10096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345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345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345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345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345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345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345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345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345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345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345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101A1B"/>
                </a:solidFill>
                <a:latin typeface="DejaVu Sans"/>
                <a:ea typeface="DejaVu Sans"/>
                <a:cs typeface="DejaVu Sans"/>
              </a:rPr>
              <a:t>هر خانه یک صفحهٔ قابل‌دنبال‌کردن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EC55B4-2EA9-44F9-977B-F026275B8C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948ef3053f4718"/>
          <a:srcRect xmlns:a="http://schemas.openxmlformats.org/drawingml/2006/main" l="6195" t="0" r="619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" y="2438400"/>
            <a:ext cx="4781550" cy="3638550"/>
          </a:xfrm>
          <a:prstGeom xmlns:a="http://schemas.openxmlformats.org/drawingml/2006/main" prst="rect">
            <a:avLst/>
          </a:prstGeom>
        </p:spPr>
      </p:pic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D3F776A6-C186-409C-AD77-655CDE4C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19350"/>
            <a:ext cx="5191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2250" b="1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2250" b="1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2250" b="1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2250" b="1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2250" b="1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2250" b="1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2250" b="1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2250" b="1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2250" b="1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2250" b="1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2250" b="1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4312F"/>
                </a:solidFill>
                <a:latin typeface="DejaVu Sans"/>
                <a:ea typeface="DejaVu Sans"/>
                <a:cs typeface="DejaVu Sans"/>
              </a:rPr>
              <a:t>بررسیِ نقاط قوت و ضعف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982CC4E2-F295-464B-B723-947FD8ED5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143250"/>
            <a:ext cx="5191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rPr>
              <a:t>مقایسه با خانه‌های مشابه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D2BE7FF3-FA58-4599-96AE-969F4CD09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867150"/>
            <a:ext cx="5191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rPr>
              <a:t>تاریخچهٔ قیمتِ درخواستی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B570A5A0-A726-418A-92D8-8CBB87B58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591050"/>
            <a:ext cx="5191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rPr>
              <a:t>نظرها و انتخاب‌های کاربران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92D5013C-8A63-4796-BCD8-27FFF178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91175"/>
            <a:ext cx="5191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27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127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127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127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127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127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127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127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127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127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127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77817A"/>
                </a:solidFill>
                <a:latin typeface="DejaVu Sans"/>
                <a:ea typeface="DejaVu Sans"/>
                <a:cs typeface="DejaVu Sans"/>
              </a:rPr>
              <a:t>اطلاعات هر بخش فقط در صورت دسترسی و امکان اتکا نمایش داده می‌شود.</a:t>
            </a:r>
          </a:p>
        </p:txBody>
      </p:sp>
    </p:spTree>
    <p:extLst>
      <p:ext uri="{BB962C8B-B14F-4D97-AF65-F5344CB8AC3E}">
        <p14:creationId xmlns:p14="http://schemas.microsoft.com/office/powerpoint/2010/main" val="5370007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1A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21E2F87A-F2BF-4CD5-B1D1-995241FFC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5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rPr>
              <a:t>دلیل بازگشت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2B6E436-8582-47E8-B633-D5A1E7287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00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defPPr>
            <a:lvl1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1pPr>
            <a:lvl2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2pPr>
            <a:lvl3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3pPr>
            <a:lvl4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4pPr>
            <a:lvl5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5pPr>
            <a:lvl6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6pPr>
            <a:lvl7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7pPr>
            <a:lvl8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8pPr>
            <a:lvl9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241499-F382-4562-B38E-27A9FB5A59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4f9b46d4494a25"/>
          <a:srcRect xmlns:a="http://schemas.openxmlformats.org/drawingml/2006/main" l="21301" t="0" r="2130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1390650"/>
            <a:ext cx="4876800" cy="4781550"/>
          </a:xfrm>
          <a:prstGeom xmlns:a="http://schemas.openxmlformats.org/drawingml/2006/main" prst="rect">
            <a:avLst/>
          </a:prstGeom>
        </p:spPr>
      </p:pic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C8CA85CE-4487-4465-A7C9-A1E4B44F1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209675"/>
            <a:ext cx="53054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33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33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33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33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33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33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33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33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33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33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33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F4F0E8"/>
                </a:solidFill>
                <a:latin typeface="DejaVu Sans"/>
                <a:ea typeface="DejaVu Sans"/>
                <a:cs typeface="DejaVu Sans"/>
              </a:rPr>
              <a:t>بازی با انتخاب‌های واقعی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EFF07A7C-44F7-4434-9D18-1078276CD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562225"/>
            <a:ext cx="52101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2100" b="0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2100" b="0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2100" b="0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2100" b="0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2100" b="0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2100" b="0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2100" b="0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2100" b="0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2100" b="0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2100" b="0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2100" b="0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BECF8B"/>
                </a:solidFill>
                <a:latin typeface="DejaVu Sans"/>
                <a:ea typeface="DejaVu Sans"/>
                <a:cs typeface="DejaVu Sans"/>
              </a:rPr>
              <a:t>«این خانه چقدر می‌ارزد؟»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3166A9F0-50B0-490A-988A-6A58FA73B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495675"/>
            <a:ext cx="52101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20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20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20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20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20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20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20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20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20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20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20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4F0E8"/>
                </a:solidFill>
                <a:latin typeface="DejaVu Sans"/>
                <a:ea typeface="DejaVu Sans"/>
                <a:cs typeface="DejaVu Sans"/>
              </a:rPr>
              <a:t>«با یک بودجه، کدام خانه را انتخاب می‌کنی؟»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C69BD146-6CD4-4E0A-A28A-4C48AC13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686300"/>
            <a:ext cx="52101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950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1950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1950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1950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1950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1950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1950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1950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1950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1950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1950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4F0E8"/>
                </a:solidFill>
                <a:latin typeface="DejaVu Sans"/>
                <a:ea typeface="DejaVu Sans"/>
                <a:cs typeface="DejaVu Sans"/>
              </a:rPr>
              <a:t>«اگر این خانه را می‌خریدی، هزینهٔ ماهانه‌ات چه می‌شد؟»</a:t>
            </a:r>
          </a:p>
        </p:txBody>
      </p:sp>
    </p:spTree>
    <p:extLst>
      <p:ext uri="{BB962C8B-B14F-4D97-AF65-F5344CB8AC3E}">
        <p14:creationId xmlns:p14="http://schemas.microsoft.com/office/powerpoint/2010/main" val="5653848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EC58B27B-691E-48DA-9D86-D94E03BD1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5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rPr>
              <a:t>مخاطب و انگیزه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6EB2FA9-D85C-450C-B34F-9E9AA1C9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00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defPPr>
            <a:lvl1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1pPr>
            <a:lvl2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2pPr>
            <a:lvl3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3pPr>
            <a:lvl4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4pPr>
            <a:lvl5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5pPr>
            <a:lvl6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6pPr>
            <a:lvl7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7pPr>
            <a:lvl8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8pPr>
            <a:lvl9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C34A4EB2-5B6E-4113-A9E0-FF1BF506D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143000"/>
            <a:ext cx="10096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35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35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35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35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35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35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35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35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35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35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35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pPr>
            <a:r>
              <a:rPr sz="3525" b="1">
                <a:solidFill>
                  <a:srgbClr val="101A1B"/>
                </a:solidFill>
                <a:latin typeface="DejaVu Sans"/>
                <a:ea typeface="DejaVu Sans"/>
                <a:cs typeface="DejaVu Sans"/>
              </a:rPr>
              <a:t>سه دلیل متفاوت برای آمدن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F00365BC-1C68-4E3A-9F64-C4B45C6AF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362200"/>
            <a:ext cx="1047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defPPr>
            <a:lvl1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1pPr>
            <a:lvl2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2pPr>
            <a:lvl3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3pPr>
            <a:lvl4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4pPr>
            <a:lvl5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5pPr>
            <a:lvl6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6pPr>
            <a:lvl7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7pPr>
            <a:lvl8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8pPr>
            <a:lvl9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rPr>
              <a:t>۰۱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3C24AF8A-8B32-48A3-9D8A-38A30D517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419350"/>
            <a:ext cx="8239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pPr>
            <a:r>
              <a: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rPr>
              <a:t>کنجکاوی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384045BA-A04D-4116-BFA3-1C76873F3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438525"/>
            <a:ext cx="1047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defPPr>
            <a:lvl1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1pPr>
            <a:lvl2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2pPr>
            <a:lvl3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3pPr>
            <a:lvl4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4pPr>
            <a:lvl5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5pPr>
            <a:lvl6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6pPr>
            <a:lvl7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7pPr>
            <a:lvl8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8pPr>
            <a:lvl9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rPr>
              <a:t>۰۲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FA2EBB7E-BD67-4131-AA11-7CDDB630C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495675"/>
            <a:ext cx="8239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pPr>
            <a:r>
              <a: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rPr>
              <a:t>خانهٔ رؤیایی و الهام گرفتن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9B99363C-2736-4B24-92F1-1CE491351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514850"/>
            <a:ext cx="1047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defPPr>
            <a:lvl1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1pPr>
            <a:lvl2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2pPr>
            <a:lvl3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3pPr>
            <a:lvl4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4pPr>
            <a:lvl5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5pPr>
            <a:lvl6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6pPr>
            <a:lvl7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7pPr>
            <a:lvl8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8pPr>
            <a:lvl9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C97B56"/>
                </a:solidFill>
                <a:latin typeface="DejaVu Sans"/>
                <a:ea typeface="DejaVu Sans"/>
                <a:cs typeface="DejaVu Sans"/>
              </a:rPr>
              <a:t>۰۳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87BCF78D-AED3-4966-AB40-DDE761042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572000"/>
            <a:ext cx="8239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pPr>
            <a:r>
              <a:rPr sz="2625" b="1">
                <a:solidFill>
                  <a:srgbClr val="101A1B"/>
                </a:solidFill>
                <a:latin typeface="DejaVu Sans"/>
                <a:ea typeface="DejaVu Sans"/>
                <a:cs typeface="DejaVu Sans"/>
              </a:rPr>
              <a:t>کشف فرصت‌های بازار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14A2195A-BBC3-4CB0-A8C4-01DF6E662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715000"/>
            <a:ext cx="923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57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157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157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157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157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157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157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157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157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157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157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77817A"/>
                </a:solidFill>
                <a:latin typeface="DejaVu Sans"/>
                <a:ea typeface="DejaVu Sans"/>
                <a:cs typeface="DejaVu Sans"/>
              </a:rPr>
              <a:t>هر سه مخاطب می‌توانند وارد شوند؛ فقط بعضی‌ها همین حالا قصد معامله دارند.</a:t>
            </a:r>
          </a:p>
        </p:txBody>
      </p:sp>
    </p:spTree>
    <p:extLst>
      <p:ext uri="{BB962C8B-B14F-4D97-AF65-F5344CB8AC3E}">
        <p14:creationId xmlns:p14="http://schemas.microsoft.com/office/powerpoint/2010/main" val="12128656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1A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061149C5-CA70-4BAA-A0B8-AA0933B6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5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rPr>
              <a:t>پیشنهاد برای نسخهٔ نخست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71C6E19-1765-491B-B1BB-CCE98355C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00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defPPr>
            <a:lvl1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1pPr>
            <a:lvl2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2pPr>
            <a:lvl3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3pPr>
            <a:lvl4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4pPr>
            <a:lvl5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5pPr>
            <a:lvl6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6pPr>
            <a:lvl7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7pPr>
            <a:lvl8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8pPr>
            <a:lvl9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D5B215DD-EE14-4AC3-8973-7EB0AF37C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276350"/>
            <a:ext cx="10096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39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39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39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39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39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39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39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39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39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39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390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pPr>
            <a:r>
              <a:rPr sz="3900" b="1">
                <a:solidFill>
                  <a:srgbClr val="F4F0E8"/>
                </a:solidFill>
                <a:latin typeface="DejaVu Sans"/>
                <a:ea typeface="DejaVu Sans"/>
                <a:cs typeface="DejaVu Sans"/>
              </a:rPr>
              <a:t>شروع کوچک و منظم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9499F9AD-1DEC-4939-A9FC-6D6DCBEF0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57500"/>
            <a:ext cx="9477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285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285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285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285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285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285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285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285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285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285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285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pPr>
            <a:r>
              <a:rPr sz="2850" b="1">
                <a:solidFill>
                  <a:srgbClr val="BECF8B"/>
                </a:solidFill>
                <a:latin typeface="DejaVu Sans"/>
                <a:ea typeface="DejaVu Sans"/>
                <a:cs typeface="DejaVu Sans"/>
              </a:rPr>
              <a:t>۲۰ تا ۳۰ خانهٔ منتخب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DE223828-899E-4E97-8E9D-3A8D6421F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86175"/>
            <a:ext cx="9477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2250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2250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2250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2250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2250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2250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2250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2250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2250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2250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2250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F4F0E8"/>
                </a:solidFill>
                <a:latin typeface="DejaVu Sans"/>
                <a:ea typeface="DejaVu Sans"/>
                <a:cs typeface="DejaVu Sans"/>
              </a:rPr>
              <a:t>بررسی کوتاه و خوش‌خوان برای هر خانه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1C3B22B5-FF9E-4E07-995C-2E67D8C7E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43425"/>
            <a:ext cx="9477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20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20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20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20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20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20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20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20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20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20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2025" b="0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4F0E8"/>
                </a:solidFill>
                <a:latin typeface="DejaVu Sans"/>
                <a:ea typeface="DejaVu Sans"/>
                <a:cs typeface="DejaVu Sans"/>
              </a:rPr>
              <a:t>دو قالب مشارکتی: انتخاب بین خانه‌ها و حدس قیمت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C6F80837-9329-4D1D-A8F0-4A832F90D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57875"/>
            <a:ext cx="9477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35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135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135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135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135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135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135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135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135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135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B8BBB3"/>
                </a:solidFill>
                <a:latin typeface="DejaVu Sans"/>
                <a:ea typeface="DejaVu Sans"/>
                <a:cs typeface="DejaVu Sans"/>
              </a:rPr>
              <a:t>این اعداد پیشنهاد اجرایی‌اند و به ظرفیت تولید محتوا بستگی دارند.</a:t>
            </a:r>
          </a:p>
        </p:txBody>
      </p:sp>
    </p:spTree>
    <p:extLst>
      <p:ext uri="{BB962C8B-B14F-4D97-AF65-F5344CB8AC3E}">
        <p14:creationId xmlns:p14="http://schemas.microsoft.com/office/powerpoint/2010/main" val="19382638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C45BEED0-C1E4-487F-A544-1B78D45F9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5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rPr>
              <a:t>رشد مرحله‌ای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30D405F-8039-490D-BE0F-2A3F6352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00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defPPr>
            <a:lvl1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1pPr>
            <a:lvl2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2pPr>
            <a:lvl3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3pPr>
            <a:lvl4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4pPr>
            <a:lvl5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5pPr>
            <a:lvl6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6pPr>
            <a:lvl7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7pPr>
            <a:lvl8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8pPr>
            <a:lvl9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77817A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E1FAA424-F2D4-4F20-BA3E-AF4499848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981075"/>
            <a:ext cx="1004887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345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345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345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345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345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345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345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345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345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345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3450" b="1">
                <a:solidFill>
                  <a:srgbClr val="101A1B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101A1B"/>
                </a:solidFill>
                <a:latin typeface="DejaVu Sans"/>
                <a:ea typeface="DejaVu Sans"/>
                <a:cs typeface="DejaVu Sans"/>
              </a:rPr>
              <a:t>مسیر رشد بر اساس رفتار مخاطب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CE83BB7E-3F78-4FB8-9656-3754CBFE4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314575"/>
            <a:ext cx="1619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rPr>
              <a:t>فاز ۱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4A4588C5-F401-4F35-976E-C8320A503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771775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2400" b="1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2400" b="1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2400" b="1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2400" b="1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2400" b="1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2400" b="1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2400" b="1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2400" b="1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2400" b="1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2400" b="1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2400" b="1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24312F"/>
                </a:solidFill>
                <a:latin typeface="DejaVu Sans"/>
                <a:ea typeface="DejaVu Sans"/>
                <a:cs typeface="DejaVu Sans"/>
              </a:rPr>
              <a:t>محتوای جذاب و بازدیدِ تکرارشونده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29E1C610-D2A6-4D7B-8573-7745B6EF4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590925"/>
            <a:ext cx="1619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rPr>
              <a:t>فاز ۲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9D39F739-63A5-49A8-834E-DEB28F54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057650"/>
            <a:ext cx="10001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24312F"/>
                </a:solidFill>
                <a:latin typeface="DejaVu Sans"/>
                <a:ea typeface="DejaVu Sans"/>
                <a:cs typeface="DejaVu Sans"/>
              </a:rPr>
              <a:t>شناخت سلیقه، علاقه‌مندی‌ها و پیشنهادهای شخصی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9C4A1B6C-C103-4AB4-B24B-E96B1087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857750"/>
            <a:ext cx="1619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C97B56"/>
                </a:solidFill>
                <a:latin typeface="DejaVu Sans"/>
                <a:ea typeface="DejaVu Sans"/>
                <a:cs typeface="DejaVu Sans"/>
              </a:rPr>
              <a:t>فاز ۳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C2348A4F-3412-474A-9C78-C47E9345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343525"/>
            <a:ext cx="100012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2175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2175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2175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2175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2175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2175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2175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2175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2175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2175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2175" b="0">
                <a:solidFill>
                  <a:srgbClr val="24312F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24312F"/>
                </a:solidFill>
                <a:latin typeface="DejaVu Sans"/>
                <a:ea typeface="DejaVu Sans"/>
                <a:cs typeface="DejaVu Sans"/>
              </a:rPr>
              <a:t>همکاری مشاوران، خدمات حرفه‌ای و امکان معامله</a:t>
            </a:r>
          </a:p>
        </p:txBody>
      </p:sp>
    </p:spTree>
    <p:extLst>
      <p:ext uri="{BB962C8B-B14F-4D97-AF65-F5344CB8AC3E}">
        <p14:creationId xmlns:p14="http://schemas.microsoft.com/office/powerpoint/2010/main" val="14487738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01A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895ACBAD-0EA7-42EA-A838-E459517F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5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rPr>
              <a:t>معیار موفقیت آغازین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05DA1CE-676B-47D0-AD67-CB29BD8B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00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defPPr>
            <a:lvl1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1pPr>
            <a:lvl2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2pPr>
            <a:lvl3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3pPr>
            <a:lvl4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4pPr>
            <a:lvl5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5pPr>
            <a:lvl6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6pPr>
            <a:lvl7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7pPr>
            <a:lvl8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8pPr>
            <a:lvl9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B8BBB3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893DB598-FFD8-45C0-BF24-56C5E041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285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210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210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210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210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210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210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210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210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210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210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BECF8B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BECF8B"/>
                </a:solidFill>
                <a:latin typeface="DejaVu Sans"/>
                <a:ea typeface="DejaVu Sans"/>
                <a:cs typeface="DejaVu Sans"/>
              </a:rPr>
              <a:t>سؤال اصلیِ فاز اول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C5CD8B76-4162-4246-A9D8-3CD334217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333625"/>
            <a:ext cx="9810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405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405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405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405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405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405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405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405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405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405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4050" b="1">
                <a:solidFill>
                  <a:srgbClr val="F4F0E8"/>
                </a:solidFill>
                <a:latin typeface="DejaVu Sans"/>
                <a:ea typeface="DejaVu Sans"/>
                <a:cs typeface="DejaVu Sans"/>
              </a:defRPr>
            </a:pPr>
            <a:r>
              <a:rPr sz="4050" b="1">
                <a:solidFill>
                  <a:srgbClr val="F4F0E8"/>
                </a:solidFill>
                <a:latin typeface="DejaVu Sans"/>
                <a:ea typeface="DejaVu Sans"/>
                <a:cs typeface="DejaVu Sans"/>
              </a:rPr>
              <a:t>آیا کسی که امروز فقط خانه‌ها را تماشا می‌کند، هفتهٔ بعد دوباره برمی‌گردد؟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B56EAAA2-0EC5-49CA-A8C2-F071020AC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86375"/>
            <a:ext cx="938212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80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defPPr>
            <a:lvl1pPr algn="r">
              <a:defRPr sz="180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1pPr>
            <a:lvl2pPr algn="r">
              <a:defRPr sz="180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2pPr>
            <a:lvl3pPr algn="r">
              <a:defRPr sz="180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3pPr>
            <a:lvl4pPr algn="r">
              <a:defRPr sz="180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4pPr>
            <a:lvl5pPr algn="r">
              <a:defRPr sz="180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5pPr>
            <a:lvl6pPr algn="r">
              <a:defRPr sz="180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6pPr>
            <a:lvl7pPr algn="r">
              <a:defRPr sz="180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7pPr>
            <a:lvl8pPr algn="r">
              <a:defRPr sz="180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8pPr>
            <a:lvl9pPr algn="r">
              <a:defRPr sz="180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 algn="r">
              <a:defRPr sz="1800" b="0">
                <a:solidFill>
                  <a:srgbClr val="B8BBB3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B8BBB3"/>
                </a:solidFill>
                <a:latin typeface="DejaVu Sans"/>
                <a:ea typeface="DejaVu Sans"/>
                <a:cs typeface="DejaVu Sans"/>
              </a:rPr>
              <a:t>بازگشت کاربران، ذخیرهٔ خانه‌ها و مشارکت در مقایسه‌ها، شاخص‌های اولیهٔ این فرضیه‌اند.</a:t>
            </a:r>
          </a:p>
        </p:txBody>
      </p:sp>
    </p:spTree>
    <p:extLst>
      <p:ext uri="{BB962C8B-B14F-4D97-AF65-F5344CB8AC3E}">
        <p14:creationId xmlns:p14="http://schemas.microsoft.com/office/powerpoint/2010/main" val="18603434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2026-10-30T21:08:58.2030000Z</dcterms:created>
  <dcterms:modified xsi:type="dcterms:W3CDTF">2026-10-30T21:08:58.2030000Z</dcterms:modified>
</coreProperties>
</file>